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5132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F5132"/>
                </a:solidFill>
                <a:latin typeface="Arial"/>
              </a:rPr>
              <a:t>Flujo de caja neto del corredor piloto (quetzales)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Flujo neto (Q)</c:v>
                </c:pt>
              </c:strCache>
            </c:strRef>
          </c:tx>
          <c:spPr>
            <a:solidFill>
              <a:srgbClr val="1F9D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Año 0</c:v>
                  </c:pt>
                  <c:pt idx="1">
                    <c:v>Año 1</c:v>
                  </c:pt>
                  <c:pt idx="2">
                    <c:v>Año 2</c:v>
                  </c:pt>
                  <c:pt idx="3">
                    <c:v>Año 3</c:v>
                  </c:pt>
                  <c:pt idx="4">
                    <c:v>Año 4</c:v>
                  </c:pt>
                  <c:pt idx="5">
                    <c:v>Año 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-700500</c:v>
                </c:pt>
                <c:pt idx="1">
                  <c:v>190000</c:v>
                </c:pt>
                <c:pt idx="2">
                  <c:v>197600</c:v>
                </c:pt>
                <c:pt idx="3">
                  <c:v>205504</c:v>
                </c:pt>
                <c:pt idx="4">
                  <c:v>213724</c:v>
                </c:pt>
                <c:pt idx="5">
                  <c:v>222273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william700morales-cloud/transmetro-sistema" TargetMode="External"/><Relationship Id="rId2" Type="http://schemas.openxmlformats.org/officeDocument/2006/relationships/hyperlink" Target="https://william700morales-cloud.github.io/transmetro-sistema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51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20640"/>
            <a:ext cx="12191695" cy="109728"/>
          </a:xfrm>
          <a:prstGeom prst="rect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822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BF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CONSULTORÍA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unificado de gestión de líneas, estaciones, flota y recaudación del Transmetro de Guatemala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F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de la propuesta de consultoría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Alejandro Morales Mendez · Facultad de Ingeniería en Sistemas, Universidad de Guatemala · 23 de octubre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Transmetro de Guatemala · Propuesta de consultoría · William Alejandro Morales Mendez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25400">
            <a:solidFill>
              <a:srgbClr val="1F9D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6304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municipalidades llevan el Transmetro a toda la capital y a los municipios aledaños.</a:t>
            </a:r>
            <a:endParaRPr lang="en-US" sz="22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línea, estación, acceso, bus, piloto y guardia se controla hoy por separado y sin reglas automáticas.</a:t>
            </a:r>
            <a:endParaRPr lang="en-US" sz="22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líneas sin buses suficientes, accesos sin vigilancia y estaciones saturadas sin aviso.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3535680" cy="1828800"/>
          </a:xfrm>
          <a:prstGeom prst="roundRect">
            <a:avLst>
              <a:gd name="adj" fmla="val 5000"/>
            </a:avLst>
          </a:prstGeom>
          <a:solidFill>
            <a:srgbClr val="E8F5EE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023360"/>
            <a:ext cx="353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0"/>
            <a:ext cx="335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del caso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12920" y="3931920"/>
            <a:ext cx="3535680" cy="1828800"/>
          </a:xfrm>
          <a:prstGeom prst="roundRect">
            <a:avLst>
              <a:gd name="adj" fmla="val 5000"/>
            </a:avLst>
          </a:prstGeom>
          <a:solidFill>
            <a:srgbClr val="E8F5EE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2920" y="4023360"/>
            <a:ext cx="353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404360" y="5029200"/>
            <a:ext cx="335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77200" y="3931920"/>
            <a:ext cx="3535680" cy="1828800"/>
          </a:xfrm>
          <a:prstGeom prst="roundRect">
            <a:avLst>
              <a:gd name="adj" fmla="val 5000"/>
            </a:avLst>
          </a:prstGeom>
          <a:solidFill>
            <a:srgbClr val="E8F5EE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77200" y="4023360"/>
            <a:ext cx="353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168640" y="5029200"/>
            <a:ext cx="335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Transmetro de Guatemala · Propuesta de consultoría · William Alejandro Morales Mendez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entrega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25400">
            <a:solidFill>
              <a:srgbClr val="1F9D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3505200" cy="2148840"/>
          </a:xfrm>
          <a:prstGeom prst="roundRect">
            <a:avLst>
              <a:gd name="adj" fmla="val 4255"/>
            </a:avLst>
          </a:prstGeom>
          <a:solidFill>
            <a:srgbClr val="E8F5EE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54480"/>
            <a:ext cx="313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económica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3139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Q 700,500, VPN y TIR a cinco años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28160" y="1417320"/>
            <a:ext cx="3505200" cy="2148840"/>
          </a:xfrm>
          <a:prstGeom prst="roundRect">
            <a:avLst>
              <a:gd name="adj" fmla="val 4255"/>
            </a:avLst>
          </a:prstGeom>
          <a:solidFill>
            <a:srgbClr val="E8F5EE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1040" y="1554480"/>
            <a:ext cx="313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factibilidad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11040" y="2377440"/>
            <a:ext cx="3139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Requerimientos, antecedentes, deficiencias y cinco estudios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07680" y="1417320"/>
            <a:ext cx="3505200" cy="2148840"/>
          </a:xfrm>
          <a:prstGeom prst="roundRect">
            <a:avLst>
              <a:gd name="adj" fmla="val 4255"/>
            </a:avLst>
          </a:prstGeom>
          <a:solidFill>
            <a:srgbClr val="E8F5EE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0560" y="1554480"/>
            <a:ext cx="313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90560" y="2377440"/>
            <a:ext cx="3139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tablas en PostgreSQL con script SQL completo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3505200" cy="2148840"/>
          </a:xfrm>
          <a:prstGeom prst="roundRect">
            <a:avLst>
              <a:gd name="adj" fmla="val 4255"/>
            </a:avLst>
          </a:prstGeom>
          <a:solidFill>
            <a:srgbClr val="E8F5EE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77640"/>
            <a:ext cx="313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completo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31520" y="4800600"/>
            <a:ext cx="3139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uso, componentes, secuencia, actividades, clases y objetos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28160" y="3840480"/>
            <a:ext cx="3505200" cy="2148840"/>
          </a:xfrm>
          <a:prstGeom prst="roundRect">
            <a:avLst>
              <a:gd name="adj" fmla="val 4255"/>
            </a:avLst>
          </a:prstGeom>
          <a:solidFill>
            <a:srgbClr val="E8F5EE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11040" y="3977640"/>
            <a:ext cx="313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11040" y="4800600"/>
            <a:ext cx="3139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Catálogo, operación de estación y 17 reportes con su consulta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07680" y="3840480"/>
            <a:ext cx="3505200" cy="2148840"/>
          </a:xfrm>
          <a:prstGeom prst="roundRect">
            <a:avLst>
              <a:gd name="adj" fmla="val 4255"/>
            </a:avLst>
          </a:prstGeom>
          <a:solidFill>
            <a:srgbClr val="E8F5EE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0560" y="3977640"/>
            <a:ext cx="313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aceptación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290560" y="4800600"/>
            <a:ext cx="3139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pruebas automáticas, métricas y criterios de aceptación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Transmetro de Guatemala · Propuesta de consultoría · William Alejandro Morales Mendez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viven en la base de datos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25400">
            <a:solidFill>
              <a:srgbClr val="1F9D55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5120640"/>
                <a:gridCol w="201168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 del caso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se cumple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13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Línea con entre N y 2N buses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Validación al confirmar el cambio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T01 a T04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acceso con un guardia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Rechaza retirar al último guardia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T11, T12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 siempre con parqueo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Obligatorio, con historial de cambios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T06, T07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 al 150 % de un bus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Disparador que crea la alerta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T17 a T19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Menos de 25 %: espera 5 min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Disparador calcula la espera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T20, T21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de tarjeta confiable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Recarga y cobro con validación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T25 a T28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Transmetro de Guatemala · Propuesta de consultoría · William Alejandro Morales Mendez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25400">
            <a:solidFill>
              <a:srgbClr val="1F9D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4023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tablas, 14 vistas, 21 disparadores</a:t>
            </a:r>
            <a:endParaRPr lang="en-US" sz="18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llaves foráneas y 48 restricciones</a:t>
            </a:r>
            <a:endParaRPr lang="en-US" sz="18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estación puede estar en varias líneas</a:t>
            </a:r>
            <a:endParaRPr lang="en-US" sz="18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Distancias entre estaciones y por línea (L12: 18.40 km)</a:t>
            </a:r>
            <a:endParaRPr lang="en-US" sz="1800" dirty="0"/>
          </a:p>
        </p:txBody>
      </p:sp>
      <p:pic>
        <p:nvPicPr>
          <p:cNvPr id="8" name="Image 0" descr="C:\Users\Calel\ropa-usada-erp\entrega-transmetro\transmetro-sistema\docs\diagramas\er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688049"/>
            <a:ext cx="6949440" cy="42591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Transmetro de Guatemala · Propuesta de consultoría · William Alejandro Morales Mendez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funcional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25400">
            <a:solidFill>
              <a:srgbClr val="1F9D55"/>
            </a:solidFill>
            <a:prstDash val="solid"/>
          </a:ln>
        </p:spPr>
      </p:sp>
      <p:pic>
        <p:nvPicPr>
          <p:cNvPr id="7" name="Image 0" descr="C:\Users\Calel\ropa-usada-erp\entrega-transmetro\transmetro-sistema\docs\capturas\line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1371600"/>
            <a:ext cx="5383987" cy="4206240"/>
          </a:xfrm>
          <a:prstGeom prst="rect">
            <a:avLst/>
          </a:prstGeom>
        </p:spPr>
      </p:pic>
      <p:pic>
        <p:nvPicPr>
          <p:cNvPr id="8" name="Image 1" descr="C:\Users\Calel\ropa-usada-erp\entrega-transmetro\transmetro-sistema\docs\capturas\estacion-aler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792" y="1371600"/>
            <a:ext cx="4486656" cy="4206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líneas y flota, y operación de estación con alertas de capacidad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Transmetro de Guatemala · Propuesta de consultoría · William Alejandro Morales Mendez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verificados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25400">
            <a:solidFill>
              <a:srgbClr val="1F9D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6304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Probado en PostgreSQL 16 y 17</a:t>
            </a:r>
            <a:endParaRPr lang="en-US" sz="22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Pendiente: dividir 5 componentes de interfaz con complejidad mayor a 10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2594610" cy="1828800"/>
          </a:xfrm>
          <a:prstGeom prst="roundRect">
            <a:avLst>
              <a:gd name="adj" fmla="val 5000"/>
            </a:avLst>
          </a:prstGeom>
          <a:solidFill>
            <a:srgbClr val="E8F5EE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023360"/>
            <a:ext cx="259461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36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0"/>
            <a:ext cx="241173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reglas superadas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71850" y="3931920"/>
            <a:ext cx="2594610" cy="1828800"/>
          </a:xfrm>
          <a:prstGeom prst="roundRect">
            <a:avLst>
              <a:gd name="adj" fmla="val 5000"/>
            </a:avLst>
          </a:prstGeom>
          <a:solidFill>
            <a:srgbClr val="E8F5EE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71850" y="4023360"/>
            <a:ext cx="259461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463290" y="5029200"/>
            <a:ext cx="241173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con su SQL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95060" y="3931920"/>
            <a:ext cx="2594610" cy="1828800"/>
          </a:xfrm>
          <a:prstGeom prst="roundRect">
            <a:avLst>
              <a:gd name="adj" fmla="val 5000"/>
            </a:avLst>
          </a:prstGeom>
          <a:solidFill>
            <a:srgbClr val="E8F5EE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5060" y="4023360"/>
            <a:ext cx="259461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286500" y="5029200"/>
            <a:ext cx="241173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media (límite 10)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18270" y="3931920"/>
            <a:ext cx="2594610" cy="1828800"/>
          </a:xfrm>
          <a:prstGeom prst="roundRect">
            <a:avLst>
              <a:gd name="adj" fmla="val 5000"/>
            </a:avLst>
          </a:prstGeom>
          <a:solidFill>
            <a:srgbClr val="E8F5EE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18270" y="4023360"/>
            <a:ext cx="259461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109710" y="5029200"/>
            <a:ext cx="241173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 conocidas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Transmetro de Guatemala · Propuesta de consultoría · William Alejandro Morales Mendez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económica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25400">
            <a:solidFill>
              <a:srgbClr val="1F9D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2263140" cy="1371600"/>
          </a:xfrm>
          <a:prstGeom prst="roundRect">
            <a:avLst>
              <a:gd name="adj" fmla="val 6667"/>
            </a:avLst>
          </a:prstGeom>
          <a:solidFill>
            <a:srgbClr val="E8F5EE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54480"/>
            <a:ext cx="22631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700,500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208026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inicial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40380" y="1463040"/>
            <a:ext cx="2263140" cy="1371600"/>
          </a:xfrm>
          <a:prstGeom prst="roundRect">
            <a:avLst>
              <a:gd name="adj" fmla="val 6667"/>
            </a:avLst>
          </a:prstGeom>
          <a:solidFill>
            <a:srgbClr val="E8F5EE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0380" y="1554480"/>
            <a:ext cx="22631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120,000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131820" y="2286000"/>
            <a:ext cx="208026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anual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2263140" cy="1371600"/>
          </a:xfrm>
          <a:prstGeom prst="roundRect">
            <a:avLst>
              <a:gd name="adj" fmla="val 6667"/>
            </a:avLst>
          </a:prstGeom>
          <a:solidFill>
            <a:srgbClr val="E8F5EE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08960"/>
            <a:ext cx="22631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73,921.67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208026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a 5 años (10 %)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040380" y="3017520"/>
            <a:ext cx="2263140" cy="1371600"/>
          </a:xfrm>
          <a:prstGeom prst="roundRect">
            <a:avLst>
              <a:gd name="adj" fmla="val 6667"/>
            </a:avLst>
          </a:prstGeom>
          <a:solidFill>
            <a:srgbClr val="E8F5EE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40380" y="3108960"/>
            <a:ext cx="22631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13.94 %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131820" y="3840480"/>
            <a:ext cx="208026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57200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en 3 años y 6 meses. Si los ahorros bajan 10 %, el VPN se vuelve negativo: medir en el piloto antes de ampliar.</a:t>
            </a:r>
            <a:endParaRPr lang="en-US" sz="16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669280" y="1371600"/>
          <a:ext cx="60350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Transmetro de Guatemala · Propuesta de consultoría · William Alejandro Morales Mendez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 metodología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25400">
            <a:solidFill>
              <a:srgbClr val="1F9D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4023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adaptado, iteraciones de 2 semanas</a:t>
            </a:r>
            <a:endParaRPr lang="en-US" sz="18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semanas: 2 de noviembre de 2026 a 12 de marzo de 2027</a:t>
            </a:r>
            <a:endParaRPr lang="en-US" sz="18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en la Línea 12 y capacitación de 16 horas</a:t>
            </a:r>
            <a:endParaRPr lang="en-US" sz="1800" dirty="0"/>
          </a:p>
        </p:txBody>
      </p:sp>
      <p:pic>
        <p:nvPicPr>
          <p:cNvPr id="8" name="Image 0" descr="C:\Users\Calel\ropa-usada-erp\entrega-transmetro\transmetro-sistema\docs\diagramas\gan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2261708"/>
            <a:ext cx="6949440" cy="31118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Transmetro de Guatemala · Propuesta de consultoría · William Alejandro Morales Mendez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 y seguridad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25400">
            <a:solidFill>
              <a:srgbClr val="1F9D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4023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WireGuard: banda ancha principal y LTE de respaldo</a:t>
            </a:r>
            <a:endParaRPr lang="en-US" sz="18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 base de datos con privilegios mínimos</a:t>
            </a:r>
            <a:endParaRPr lang="en-US" sz="18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 enmascarado y bitácora inalterable</a:t>
            </a:r>
            <a:endParaRPr lang="en-US" sz="18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Pendiente: autenticación con doble factor</a:t>
            </a:r>
            <a:endParaRPr lang="en-US" sz="1800" dirty="0"/>
          </a:p>
        </p:txBody>
      </p:sp>
      <p:pic>
        <p:nvPicPr>
          <p:cNvPr id="8" name="Image 0" descr="C:\Users\Calel\ropa-usada-erp\entrega-transmetro\transmetro-sistema\docs\diagramas\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2608291"/>
            <a:ext cx="6949440" cy="24186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Transmetro de Guatemala · Propuesta de consultoría · William Alejandro Morales Mendez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25400">
            <a:solidFill>
              <a:srgbClr val="1F9D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6304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con cada municipalidad las interpretaciones de las reglas 14 y 15.</a:t>
            </a:r>
            <a:endParaRPr lang="en-US" sz="22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datos reales y pasar a PostgreSQL gestionado en la nube.</a:t>
            </a:r>
            <a:endParaRPr lang="en-US" sz="22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Financiar PC y enlaces de estaciones como infraestructura ordinaria.</a:t>
            </a:r>
            <a:endParaRPr lang="en-US" sz="22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los ahorros reales en el piloto de la Línea 12.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Repositorio: </a:t>
            </a:r>
            <a:pPr indent="0" marL="0">
              <a:buNone/>
            </a:pPr>
            <a:r>
              <a:rPr lang="en-US" sz="1600" u="sng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https://github.com/william700morales-cloud/transmetro-sistema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web: </a:t>
            </a:r>
            <a:endParaRPr lang="en-US" sz="1600" dirty="0"/>
          </a:p>
          <a:p>
            <a:pPr indent="0" marL="0">
              <a:buNone/>
            </a:pPr>
            <a:r>
              <a:rPr lang="en-US" sz="1600" u="sng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https://william700morales-cloud.github.io/transmetro-sistema/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Resumen ejecutivo - Transmetro de Guatemala</dc:title>
  <dc:subject>PptxGenJS Presentation</dc:subject>
  <dc:creator>William Alejandro Morales Mendez</dc:creator>
  <cp:lastModifiedBy>William Alejandro Morales Mendez</cp:lastModifiedBy>
  <cp:revision>1</cp:revision>
  <dcterms:created xsi:type="dcterms:W3CDTF">2026-10-24T04:03:31Z</dcterms:created>
  <dcterms:modified xsi:type="dcterms:W3CDTF">2026-10-24T04:03:31Z</dcterms:modified>
</cp:coreProperties>
</file>